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1005840"/>
            <a:ext cx="82296" cy="82296"/>
          </a:xfrm>
          <a:prstGeom prst="ellipse">
            <a:avLst/>
          </a:prstGeom>
          <a:solidFill>
            <a:srgbClr val="FF6B5E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1463040"/>
            <a:ext cx="82296" cy="82296"/>
          </a:xfrm>
          <a:prstGeom prst="ellipse">
            <a:avLst/>
          </a:prstGeom>
          <a:solidFill>
            <a:srgbClr val="7DDFB0"/>
          </a:solidFill>
          <a:ln/>
        </p:spPr>
      </p:sp>
      <p:sp>
        <p:nvSpPr>
          <p:cNvPr id="4" name="Shape 2"/>
          <p:cNvSpPr/>
          <p:nvPr/>
        </p:nvSpPr>
        <p:spPr>
          <a:xfrm>
            <a:off x="9692640" y="2103120"/>
            <a:ext cx="82296" cy="82296"/>
          </a:xfrm>
          <a:prstGeom prst="ellipse">
            <a:avLst/>
          </a:prstGeom>
          <a:solidFill>
            <a:srgbClr val="F2F0EA"/>
          </a:solidFill>
          <a:ln/>
        </p:spPr>
      </p:sp>
      <p:sp>
        <p:nvSpPr>
          <p:cNvPr id="5" name="Shape 3"/>
          <p:cNvSpPr/>
          <p:nvPr/>
        </p:nvSpPr>
        <p:spPr>
          <a:xfrm>
            <a:off x="11155680" y="914400"/>
            <a:ext cx="82296" cy="82296"/>
          </a:xfrm>
          <a:prstGeom prst="ellipse">
            <a:avLst/>
          </a:prstGeom>
          <a:solidFill>
            <a:srgbClr val="FF6B5E"/>
          </a:solidFill>
          <a:ln/>
        </p:spPr>
      </p:sp>
      <p:sp>
        <p:nvSpPr>
          <p:cNvPr id="6" name="Shape 4"/>
          <p:cNvSpPr/>
          <p:nvPr/>
        </p:nvSpPr>
        <p:spPr>
          <a:xfrm>
            <a:off x="10789920" y="2377440"/>
            <a:ext cx="82296" cy="82296"/>
          </a:xfrm>
          <a:prstGeom prst="ellipse">
            <a:avLst/>
          </a:prstGeom>
          <a:solidFill>
            <a:srgbClr val="7DDFB0"/>
          </a:solidFill>
          <a:ln/>
        </p:spPr>
      </p:sp>
      <p:sp>
        <p:nvSpPr>
          <p:cNvPr id="7" name="Shape 5"/>
          <p:cNvSpPr/>
          <p:nvPr/>
        </p:nvSpPr>
        <p:spPr>
          <a:xfrm>
            <a:off x="11612880" y="1828800"/>
            <a:ext cx="82296" cy="82296"/>
          </a:xfrm>
          <a:prstGeom prst="ellipse">
            <a:avLst/>
          </a:prstGeom>
          <a:solidFill>
            <a:srgbClr val="F2F0EA"/>
          </a:solidFill>
          <a:ln/>
        </p:spPr>
      </p:sp>
      <p:sp>
        <p:nvSpPr>
          <p:cNvPr id="8" name="Shape 6"/>
          <p:cNvSpPr/>
          <p:nvPr/>
        </p:nvSpPr>
        <p:spPr>
          <a:xfrm>
            <a:off x="9368028" y="1046988"/>
            <a:ext cx="1005840" cy="457200"/>
          </a:xfrm>
          <a:prstGeom prst="line">
            <a:avLst/>
          </a:prstGeom>
          <a:noFill/>
          <a:ln w="9525">
            <a:solidFill>
              <a:srgbClr val="8B86AA">
                <a:alpha val="7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373868" y="1504188"/>
            <a:ext cx="-640080" cy="640080"/>
          </a:xfrm>
          <a:prstGeom prst="line">
            <a:avLst/>
          </a:prstGeom>
          <a:noFill/>
          <a:ln w="9525">
            <a:solidFill>
              <a:srgbClr val="8B86AA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368028" y="1046988"/>
            <a:ext cx="365760" cy="1097280"/>
          </a:xfrm>
          <a:prstGeom prst="line">
            <a:avLst/>
          </a:prstGeom>
          <a:noFill/>
          <a:ln w="9525">
            <a:solidFill>
              <a:srgbClr val="8B86AA">
                <a:alpha val="7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373868" y="1504188"/>
            <a:ext cx="822960" cy="-548640"/>
          </a:xfrm>
          <a:prstGeom prst="line">
            <a:avLst/>
          </a:prstGeom>
          <a:noFill/>
          <a:ln w="9525">
            <a:solidFill>
              <a:srgbClr val="8B86AA">
                <a:alpha val="7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196828" y="955548"/>
            <a:ext cx="-365760" cy="1463040"/>
          </a:xfrm>
          <a:prstGeom prst="line">
            <a:avLst/>
          </a:prstGeom>
          <a:noFill/>
          <a:ln w="9525">
            <a:solidFill>
              <a:srgbClr val="8B86AA">
                <a:alpha val="7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831068" y="2418588"/>
            <a:ext cx="822960" cy="-548640"/>
          </a:xfrm>
          <a:prstGeom prst="line">
            <a:avLst/>
          </a:prstGeom>
          <a:noFill/>
          <a:ln w="9525">
            <a:solidFill>
              <a:srgbClr val="8B86AA">
                <a:alpha val="7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733788" y="2144268"/>
            <a:ext cx="1097280" cy="274320"/>
          </a:xfrm>
          <a:prstGeom prst="line">
            <a:avLst/>
          </a:prstGeom>
          <a:noFill/>
          <a:ln w="9525">
            <a:solidFill>
              <a:srgbClr val="8B86AA">
                <a:alpha val="7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1417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PROJECT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77240" y="1874520"/>
            <a:ext cx="9601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2F0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Circles</a:t>
            </a:r>
            <a:endParaRPr lang="en-US" sz="4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2F0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graph-based friend</a:t>
            </a:r>
            <a:endParaRPr lang="en-US" sz="4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2F0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 system</a:t>
            </a:r>
            <a:endParaRPr lang="en-US" sz="4600" dirty="0"/>
          </a:p>
        </p:txBody>
      </p:sp>
      <p:sp>
        <p:nvSpPr>
          <p:cNvPr id="17" name="Text 15"/>
          <p:cNvSpPr/>
          <p:nvPr/>
        </p:nvSpPr>
        <p:spPr>
          <a:xfrm>
            <a:off x="822960" y="461772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B8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a social network as a graph, then ranking new connections by mutual friends and shared interests.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B8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CIRCLES · GRAPH FRIEND RECOMMENDATION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" y="868680"/>
            <a:ext cx="261518" cy="-118872"/>
          </a:xfrm>
          <a:prstGeom prst="line">
            <a:avLst/>
          </a:prstGeom>
          <a:noFill/>
          <a:ln w="15875">
            <a:solidFill>
              <a:srgbClr val="FF6B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" y="868680"/>
            <a:ext cx="261518" cy="118872"/>
          </a:xfrm>
          <a:prstGeom prst="line">
            <a:avLst/>
          </a:prstGeom>
          <a:noFill/>
          <a:ln w="15875">
            <a:solidFill>
              <a:srgbClr val="FF6B5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5188" y="815188"/>
            <a:ext cx="106985" cy="106985"/>
          </a:xfrm>
          <a:prstGeom prst="ellipse">
            <a:avLst/>
          </a:prstGeom>
          <a:solidFill>
            <a:srgbClr val="FF6B5E"/>
          </a:solidFill>
          <a:ln/>
        </p:spPr>
      </p:sp>
      <p:sp>
        <p:nvSpPr>
          <p:cNvPr id="5" name="Shape 3"/>
          <p:cNvSpPr/>
          <p:nvPr/>
        </p:nvSpPr>
        <p:spPr>
          <a:xfrm>
            <a:off x="1076706" y="696316"/>
            <a:ext cx="106985" cy="106985"/>
          </a:xfrm>
          <a:prstGeom prst="ellipse">
            <a:avLst/>
          </a:prstGeom>
          <a:solidFill>
            <a:srgbClr val="FF6B5E"/>
          </a:solidFill>
          <a:ln/>
        </p:spPr>
      </p:sp>
      <p:sp>
        <p:nvSpPr>
          <p:cNvPr id="6" name="Shape 4"/>
          <p:cNvSpPr/>
          <p:nvPr/>
        </p:nvSpPr>
        <p:spPr>
          <a:xfrm>
            <a:off x="1076706" y="934060"/>
            <a:ext cx="106985" cy="106985"/>
          </a:xfrm>
          <a:prstGeom prst="ellipse">
            <a:avLst/>
          </a:prstGeom>
          <a:solidFill>
            <a:srgbClr val="FF6B5E"/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65836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105156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7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should you connect with next?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777240" y="2286000"/>
            <a:ext cx="3246120" cy="388620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143000" y="2697480"/>
            <a:ext cx="621792" cy="621792"/>
          </a:xfrm>
          <a:prstGeom prst="ellipse">
            <a:avLst/>
          </a:prstGeom>
          <a:solidFill>
            <a:srgbClr val="1E1B3A"/>
          </a:solidFill>
          <a:ln/>
        </p:spPr>
      </p:sp>
      <p:pic>
        <p:nvPicPr>
          <p:cNvPr id="11" name="Image 0" descr="/home/claude/ppt/icon_graph_cor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4732" y="2839212"/>
            <a:ext cx="320040" cy="32004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143000" y="361188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7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Networks aren't lists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143000" y="4206240"/>
            <a:ext cx="25146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6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Friendships form a web, not a flat table. Relationships between people matter as much as the people themselves.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4343400" y="2286000"/>
            <a:ext cx="3246120" cy="388620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709160" y="2697480"/>
            <a:ext cx="621792" cy="621792"/>
          </a:xfrm>
          <a:prstGeom prst="ellipse">
            <a:avLst/>
          </a:prstGeom>
          <a:solidFill>
            <a:srgbClr val="1E1B3A"/>
          </a:solidFill>
          <a:ln/>
        </p:spPr>
      </p:sp>
      <p:pic>
        <p:nvPicPr>
          <p:cNvPr id="16" name="Image 1" descr="/home/claude/ppt/icon_search_cor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0892" y="2839212"/>
            <a:ext cx="320040" cy="32004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709160" y="361188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7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Closeness isn't visible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4709160" y="4206240"/>
            <a:ext cx="25146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6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people might share five mutual friends and never know it. Manually noticing that doesn't scale.</a:t>
            </a:r>
            <a:endParaRPr lang="en-US" sz="1350" dirty="0"/>
          </a:p>
        </p:txBody>
      </p:sp>
      <p:sp>
        <p:nvSpPr>
          <p:cNvPr id="19" name="Shape 15"/>
          <p:cNvSpPr/>
          <p:nvPr/>
        </p:nvSpPr>
        <p:spPr>
          <a:xfrm>
            <a:off x="7909560" y="2286000"/>
            <a:ext cx="3246120" cy="388620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75320" y="2697480"/>
            <a:ext cx="621792" cy="621792"/>
          </a:xfrm>
          <a:prstGeom prst="ellipse">
            <a:avLst/>
          </a:prstGeom>
          <a:solidFill>
            <a:srgbClr val="1E1B3A"/>
          </a:solidFill>
          <a:ln/>
        </p:spPr>
      </p:sp>
      <p:pic>
        <p:nvPicPr>
          <p:cNvPr id="21" name="Image 2" descr="/home/claude/ppt/icon_heart_cor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7052" y="2839212"/>
            <a:ext cx="320040" cy="32004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275320" y="361188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7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Interests are ignored</a:t>
            </a:r>
            <a:endParaRPr lang="en-US" sz="1800" dirty="0"/>
          </a:p>
        </p:txBody>
      </p:sp>
      <p:sp>
        <p:nvSpPr>
          <p:cNvPr id="23" name="Text 18"/>
          <p:cNvSpPr/>
          <p:nvPr/>
        </p:nvSpPr>
        <p:spPr>
          <a:xfrm>
            <a:off x="8275320" y="4206240"/>
            <a:ext cx="25146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6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simple suggestion logic looks only at connections, missing people who'd genuinely get along.</a:t>
            </a:r>
            <a:endParaRPr lang="en-US" sz="1350" dirty="0"/>
          </a:p>
        </p:txBody>
      </p:sp>
      <p:sp>
        <p:nvSpPr>
          <p:cNvPr id="24" name="Text 19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CIRCLES · GRAPH FRIEND RECOMMENDATION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" y="868680"/>
            <a:ext cx="261518" cy="-118872"/>
          </a:xfrm>
          <a:prstGeom prst="line">
            <a:avLst/>
          </a:prstGeom>
          <a:noFill/>
          <a:ln w="15875">
            <a:solidFill>
              <a:srgbClr val="7DDFB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" y="868680"/>
            <a:ext cx="261518" cy="118872"/>
          </a:xfrm>
          <a:prstGeom prst="line">
            <a:avLst/>
          </a:prstGeom>
          <a:noFill/>
          <a:ln w="15875">
            <a:solidFill>
              <a:srgbClr val="7DDFB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5188" y="815188"/>
            <a:ext cx="106985" cy="106985"/>
          </a:xfrm>
          <a:prstGeom prst="ellipse">
            <a:avLst/>
          </a:prstGeom>
          <a:solidFill>
            <a:srgbClr val="7DDFB0"/>
          </a:solidFill>
          <a:ln/>
        </p:spPr>
      </p:sp>
      <p:sp>
        <p:nvSpPr>
          <p:cNvPr id="5" name="Shape 3"/>
          <p:cNvSpPr/>
          <p:nvPr/>
        </p:nvSpPr>
        <p:spPr>
          <a:xfrm>
            <a:off x="1076706" y="696316"/>
            <a:ext cx="106985" cy="106985"/>
          </a:xfrm>
          <a:prstGeom prst="ellipse">
            <a:avLst/>
          </a:prstGeom>
          <a:solidFill>
            <a:srgbClr val="7DDFB0"/>
          </a:solidFill>
          <a:ln/>
        </p:spPr>
      </p:sp>
      <p:sp>
        <p:nvSpPr>
          <p:cNvPr id="6" name="Shape 4"/>
          <p:cNvSpPr/>
          <p:nvPr/>
        </p:nvSpPr>
        <p:spPr>
          <a:xfrm>
            <a:off x="1076706" y="934060"/>
            <a:ext cx="106985" cy="106985"/>
          </a:xfrm>
          <a:prstGeom prst="ellipse">
            <a:avLst/>
          </a:prstGeom>
          <a:solidFill>
            <a:srgbClr val="7DDFB0"/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65836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DD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105156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F0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People are nodes. Friendships are edges.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2194560" y="3200400"/>
            <a:ext cx="1463040" cy="-731520"/>
          </a:xfrm>
          <a:prstGeom prst="line">
            <a:avLst/>
          </a:prstGeom>
          <a:noFill/>
          <a:ln w="19050">
            <a:solidFill>
              <a:srgbClr val="8B86A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94560" y="3200400"/>
            <a:ext cx="1463040" cy="731520"/>
          </a:xfrm>
          <a:prstGeom prst="line">
            <a:avLst/>
          </a:prstGeom>
          <a:noFill/>
          <a:ln w="19050">
            <a:solidFill>
              <a:srgbClr val="8B86A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2468880"/>
            <a:ext cx="1463040" cy="731520"/>
          </a:xfrm>
          <a:prstGeom prst="line">
            <a:avLst/>
          </a:prstGeom>
          <a:noFill/>
          <a:ln w="19050">
            <a:solidFill>
              <a:srgbClr val="8B86A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0" y="3931920"/>
            <a:ext cx="1463040" cy="-731520"/>
          </a:xfrm>
          <a:prstGeom prst="line">
            <a:avLst/>
          </a:prstGeom>
          <a:noFill/>
          <a:ln w="19050">
            <a:solidFill>
              <a:srgbClr val="8B86A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120640" y="3200400"/>
            <a:ext cx="914400" cy="1280160"/>
          </a:xfrm>
          <a:prstGeom prst="line">
            <a:avLst/>
          </a:prstGeom>
          <a:noFill/>
          <a:ln w="19050">
            <a:solidFill>
              <a:srgbClr val="8B86A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01952" y="2907792"/>
            <a:ext cx="585216" cy="585216"/>
          </a:xfrm>
          <a:prstGeom prst="ellipse">
            <a:avLst/>
          </a:prstGeom>
          <a:solidFill>
            <a:srgbClr val="FF6B5E"/>
          </a:solidFill>
          <a:ln w="19050">
            <a:solidFill>
              <a:srgbClr val="FF6B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901952" y="29077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645920" y="35387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8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Alice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364992" y="2176272"/>
            <a:ext cx="585216" cy="585216"/>
          </a:xfrm>
          <a:prstGeom prst="ellipse">
            <a:avLst/>
          </a:prstGeom>
          <a:solidFill>
            <a:srgbClr val="262248"/>
          </a:solidFill>
          <a:ln w="19050">
            <a:solidFill>
              <a:srgbClr val="8B86A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64992" y="217627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2F0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108960" y="280720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8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364992" y="3639312"/>
            <a:ext cx="585216" cy="585216"/>
          </a:xfrm>
          <a:prstGeom prst="ellipse">
            <a:avLst/>
          </a:prstGeom>
          <a:solidFill>
            <a:srgbClr val="262248"/>
          </a:solidFill>
          <a:ln w="19050">
            <a:solidFill>
              <a:srgbClr val="8B86A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64992" y="363931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2F0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108960" y="42702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8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Charlie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28032" y="2907792"/>
            <a:ext cx="585216" cy="585216"/>
          </a:xfrm>
          <a:prstGeom prst="ellipse">
            <a:avLst/>
          </a:prstGeom>
          <a:solidFill>
            <a:srgbClr val="262248"/>
          </a:solidFill>
          <a:ln w="19050">
            <a:solidFill>
              <a:srgbClr val="8B86A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28032" y="29077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2F0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572000" y="35387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8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David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742432" y="4187952"/>
            <a:ext cx="585216" cy="585216"/>
          </a:xfrm>
          <a:prstGeom prst="ellipse">
            <a:avLst/>
          </a:prstGeom>
          <a:solidFill>
            <a:srgbClr val="262248"/>
          </a:solidFill>
          <a:ln w="19050">
            <a:solidFill>
              <a:srgbClr val="8B86A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42432" y="418795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2F0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486400" y="481888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8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858000" y="2523744"/>
            <a:ext cx="100584" cy="100584"/>
          </a:xfrm>
          <a:prstGeom prst="ellipse">
            <a:avLst/>
          </a:prstGeom>
          <a:solidFill>
            <a:srgbClr val="FF6B5E"/>
          </a:solidFill>
          <a:ln/>
        </p:spPr>
      </p:sp>
      <p:sp>
        <p:nvSpPr>
          <p:cNvPr id="30" name="Text 28"/>
          <p:cNvSpPr/>
          <p:nvPr/>
        </p:nvSpPr>
        <p:spPr>
          <a:xfrm>
            <a:off x="7150608" y="235000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0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Node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150608" y="2715768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B8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user in the network — their name, friends, and interests.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858000" y="3438144"/>
            <a:ext cx="100584" cy="100584"/>
          </a:xfrm>
          <a:prstGeom prst="ellipse">
            <a:avLst/>
          </a:prstGeom>
          <a:solidFill>
            <a:srgbClr val="FF6B5E"/>
          </a:solidFill>
          <a:ln/>
        </p:spPr>
      </p:sp>
      <p:sp>
        <p:nvSpPr>
          <p:cNvPr id="33" name="Text 31"/>
          <p:cNvSpPr/>
          <p:nvPr/>
        </p:nvSpPr>
        <p:spPr>
          <a:xfrm>
            <a:off x="7150608" y="326440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0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Edge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150608" y="3630168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B8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undirected friendship link between two users.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858000" y="4352544"/>
            <a:ext cx="100584" cy="100584"/>
          </a:xfrm>
          <a:prstGeom prst="ellipse">
            <a:avLst/>
          </a:prstGeom>
          <a:solidFill>
            <a:srgbClr val="FF6B5E"/>
          </a:solidFill>
          <a:ln/>
        </p:spPr>
      </p:sp>
      <p:sp>
        <p:nvSpPr>
          <p:cNvPr id="36" name="Text 34"/>
          <p:cNvSpPr/>
          <p:nvPr/>
        </p:nvSpPr>
        <p:spPr>
          <a:xfrm>
            <a:off x="7150608" y="417880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0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Adjacency list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150608" y="4544568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B8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HashMap&lt;String, Set&lt;String&gt;&gt; stores who's connected to whom.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858000" y="5495544"/>
            <a:ext cx="100584" cy="100584"/>
          </a:xfrm>
          <a:prstGeom prst="ellipse">
            <a:avLst/>
          </a:prstGeom>
          <a:solidFill>
            <a:srgbClr val="FF6B5E"/>
          </a:solidFill>
          <a:ln/>
        </p:spPr>
      </p:sp>
      <p:sp>
        <p:nvSpPr>
          <p:cNvPr id="39" name="Text 37"/>
          <p:cNvSpPr/>
          <p:nvPr/>
        </p:nvSpPr>
        <p:spPr>
          <a:xfrm>
            <a:off x="7150608" y="532180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0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hops out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7150608" y="5687568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B8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Friends-of-friends reveal who's close but not yet connected.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B8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CIRCLES · GRAPH FRIEND RECOMMENDATION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" y="868680"/>
            <a:ext cx="261518" cy="-118872"/>
          </a:xfrm>
          <a:prstGeom prst="line">
            <a:avLst/>
          </a:prstGeom>
          <a:noFill/>
          <a:ln w="15875">
            <a:solidFill>
              <a:srgbClr val="FF6B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" y="868680"/>
            <a:ext cx="261518" cy="118872"/>
          </a:xfrm>
          <a:prstGeom prst="line">
            <a:avLst/>
          </a:prstGeom>
          <a:noFill/>
          <a:ln w="15875">
            <a:solidFill>
              <a:srgbClr val="FF6B5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5188" y="815188"/>
            <a:ext cx="106985" cy="106985"/>
          </a:xfrm>
          <a:prstGeom prst="ellipse">
            <a:avLst/>
          </a:prstGeom>
          <a:solidFill>
            <a:srgbClr val="FF6B5E"/>
          </a:solidFill>
          <a:ln/>
        </p:spPr>
      </p:sp>
      <p:sp>
        <p:nvSpPr>
          <p:cNvPr id="5" name="Shape 3"/>
          <p:cNvSpPr/>
          <p:nvPr/>
        </p:nvSpPr>
        <p:spPr>
          <a:xfrm>
            <a:off x="1076706" y="696316"/>
            <a:ext cx="106985" cy="106985"/>
          </a:xfrm>
          <a:prstGeom prst="ellipse">
            <a:avLst/>
          </a:prstGeom>
          <a:solidFill>
            <a:srgbClr val="FF6B5E"/>
          </a:solidFill>
          <a:ln/>
        </p:spPr>
      </p:sp>
      <p:sp>
        <p:nvSpPr>
          <p:cNvPr id="6" name="Shape 4"/>
          <p:cNvSpPr/>
          <p:nvPr/>
        </p:nvSpPr>
        <p:spPr>
          <a:xfrm>
            <a:off x="1076706" y="934060"/>
            <a:ext cx="106985" cy="106985"/>
          </a:xfrm>
          <a:prstGeom prst="ellipse">
            <a:avLst/>
          </a:prstGeom>
          <a:solidFill>
            <a:srgbClr val="FF6B5E"/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65836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ALGORITHM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105156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7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weighted match score, not a guess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777240" y="1965960"/>
            <a:ext cx="10607040" cy="1051560"/>
          </a:xfrm>
          <a:prstGeom prst="roundRect">
            <a:avLst>
              <a:gd name="adj" fmla="val 8696"/>
            </a:avLst>
          </a:prstGeom>
          <a:solidFill>
            <a:srgbClr val="1E1B3A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97280" y="1965960"/>
            <a:ext cx="10058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8B86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score  =  </a:t>
            </a:r>
            <a:pPr indent="0" marL="0">
              <a:buNone/>
            </a:pPr>
            <a:r>
              <a:rPr lang="en-US" sz="2100" b="1" dirty="0">
                <a:solidFill>
                  <a:srgbClr val="FF6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(mutual friends × weight)</a:t>
            </a:r>
            <a:pPr indent="0" marL="0">
              <a:buNone/>
            </a:pPr>
            <a:r>
              <a:rPr lang="en-US" sz="2100" dirty="0">
                <a:solidFill>
                  <a:srgbClr val="8B86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+  </a:t>
            </a:r>
            <a:pPr indent="0" marL="0">
              <a:buNone/>
            </a:pPr>
            <a:r>
              <a:rPr lang="en-US" sz="2100" b="1" dirty="0">
                <a:solidFill>
                  <a:srgbClr val="7DDF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(shared interests × weight)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777240" y="3383280"/>
            <a:ext cx="3310128" cy="26060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051560" y="3584448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6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051560" y="4251960"/>
            <a:ext cx="2761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B27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Walk friends-of-friends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1051560" y="4754880"/>
            <a:ext cx="27614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direct friend, look at their friends. Anyone two hops away who isn't already connected becomes a candidate.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416552" y="3383280"/>
            <a:ext cx="3310128" cy="26060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690872" y="3584448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6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4690872" y="4251960"/>
            <a:ext cx="2761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B27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Match on interests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4690872" y="4754880"/>
            <a:ext cx="27614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hobby tags across the whole network — candidates can surface purely from shared interests, even with zero mutual friends.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055864" y="3383280"/>
            <a:ext cx="3310128" cy="26060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330184" y="3584448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6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8330184" y="4251960"/>
            <a:ext cx="2761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B27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Rank with a max-heap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8330184" y="4754880"/>
            <a:ext cx="27614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both signals into one score per candidate and sort with a PriorityQueue, highest match first.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CIRCLES · GRAPH FRIEND RECOMMENDATION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" y="868680"/>
            <a:ext cx="261518" cy="-118872"/>
          </a:xfrm>
          <a:prstGeom prst="line">
            <a:avLst/>
          </a:prstGeom>
          <a:noFill/>
          <a:ln w="15875">
            <a:solidFill>
              <a:srgbClr val="7DDFB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" y="868680"/>
            <a:ext cx="261518" cy="118872"/>
          </a:xfrm>
          <a:prstGeom prst="line">
            <a:avLst/>
          </a:prstGeom>
          <a:noFill/>
          <a:ln w="15875">
            <a:solidFill>
              <a:srgbClr val="7DDFB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5188" y="815188"/>
            <a:ext cx="106985" cy="106985"/>
          </a:xfrm>
          <a:prstGeom prst="ellipse">
            <a:avLst/>
          </a:prstGeom>
          <a:solidFill>
            <a:srgbClr val="7DDFB0"/>
          </a:solidFill>
          <a:ln/>
        </p:spPr>
      </p:sp>
      <p:sp>
        <p:nvSpPr>
          <p:cNvPr id="5" name="Shape 3"/>
          <p:cNvSpPr/>
          <p:nvPr/>
        </p:nvSpPr>
        <p:spPr>
          <a:xfrm>
            <a:off x="1076706" y="696316"/>
            <a:ext cx="106985" cy="106985"/>
          </a:xfrm>
          <a:prstGeom prst="ellipse">
            <a:avLst/>
          </a:prstGeom>
          <a:solidFill>
            <a:srgbClr val="7DDFB0"/>
          </a:solidFill>
          <a:ln/>
        </p:spPr>
      </p:sp>
      <p:sp>
        <p:nvSpPr>
          <p:cNvPr id="6" name="Shape 4"/>
          <p:cNvSpPr/>
          <p:nvPr/>
        </p:nvSpPr>
        <p:spPr>
          <a:xfrm>
            <a:off x="1076706" y="934060"/>
            <a:ext cx="106985" cy="106985"/>
          </a:xfrm>
          <a:prstGeom prst="ellipse">
            <a:avLst/>
          </a:prstGeom>
          <a:solidFill>
            <a:srgbClr val="7DDFB0"/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65836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DD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IT DIFFERENT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105156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F0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Beyond a basic mutual-friend count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777240" y="2286000"/>
            <a:ext cx="3310128" cy="3886200"/>
          </a:xfrm>
          <a:prstGeom prst="roundRect">
            <a:avLst>
              <a:gd name="adj" fmla="val 3315"/>
            </a:avLst>
          </a:prstGeom>
          <a:solidFill>
            <a:srgbClr val="262248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143000" y="2697480"/>
            <a:ext cx="621792" cy="621792"/>
          </a:xfrm>
          <a:prstGeom prst="ellipse">
            <a:avLst/>
          </a:prstGeom>
          <a:solidFill>
            <a:srgbClr val="1E1B3A"/>
          </a:solidFill>
          <a:ln w="12700">
            <a:solidFill>
              <a:srgbClr val="8B86AA"/>
            </a:solidFill>
            <a:prstDash val="solid"/>
          </a:ln>
        </p:spPr>
      </p:sp>
      <p:pic>
        <p:nvPicPr>
          <p:cNvPr id="11" name="Image 0" descr="/home/claude/ppt/icon_layers_mi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4732" y="2839212"/>
            <a:ext cx="320040" cy="32004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143000" y="3611880"/>
            <a:ext cx="25786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F2F0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Friend group detection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1143000" y="4251960"/>
            <a:ext cx="25786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8B8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DFS traversal finds connected components — clusters of people only linked to each other. Reveals separate social circles inside one network.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407408" y="2286000"/>
            <a:ext cx="3310128" cy="3886200"/>
          </a:xfrm>
          <a:prstGeom prst="roundRect">
            <a:avLst>
              <a:gd name="adj" fmla="val 3315"/>
            </a:avLst>
          </a:prstGeom>
          <a:solidFill>
            <a:srgbClr val="262248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773168" y="2697480"/>
            <a:ext cx="621792" cy="621792"/>
          </a:xfrm>
          <a:prstGeom prst="ellipse">
            <a:avLst/>
          </a:prstGeom>
          <a:solidFill>
            <a:srgbClr val="1E1B3A"/>
          </a:solidFill>
          <a:ln w="12700">
            <a:solidFill>
              <a:srgbClr val="8B86AA"/>
            </a:solidFill>
            <a:prstDash val="solid"/>
          </a:ln>
        </p:spPr>
      </p:sp>
      <p:pic>
        <p:nvPicPr>
          <p:cNvPr id="16" name="Image 1" descr="/home/claude/ppt/icon_sliders_cor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4900" y="2839212"/>
            <a:ext cx="320040" cy="32004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773168" y="3611880"/>
            <a:ext cx="25786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F2F0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Tunable weighting</a:t>
            </a:r>
            <a:endParaRPr lang="en-US" sz="1750" dirty="0"/>
          </a:p>
        </p:txBody>
      </p:sp>
      <p:sp>
        <p:nvSpPr>
          <p:cNvPr id="18" name="Text 14"/>
          <p:cNvSpPr/>
          <p:nvPr/>
        </p:nvSpPr>
        <p:spPr>
          <a:xfrm>
            <a:off x="4773168" y="4251960"/>
            <a:ext cx="25786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8B8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Mutual-friend weight and interest weight are both adjustable, so the balance between "who you know" and "what you're into" can shift live.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8037576" y="2286000"/>
            <a:ext cx="3310128" cy="3886200"/>
          </a:xfrm>
          <a:prstGeom prst="roundRect">
            <a:avLst>
              <a:gd name="adj" fmla="val 3315"/>
            </a:avLst>
          </a:prstGeom>
          <a:solidFill>
            <a:srgbClr val="262248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403336" y="2697480"/>
            <a:ext cx="621792" cy="621792"/>
          </a:xfrm>
          <a:prstGeom prst="ellipse">
            <a:avLst/>
          </a:prstGeom>
          <a:solidFill>
            <a:srgbClr val="1E1B3A"/>
          </a:solidFill>
          <a:ln w="12700">
            <a:solidFill>
              <a:srgbClr val="8B86AA"/>
            </a:solidFill>
            <a:prstDash val="solid"/>
          </a:ln>
        </p:spPr>
      </p:sp>
      <p:pic>
        <p:nvPicPr>
          <p:cNvPr id="21" name="Image 2" descr="/home/claude/ppt/icon_target_cor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5068" y="2839212"/>
            <a:ext cx="320040" cy="32004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403336" y="3611880"/>
            <a:ext cx="25786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F2F0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Explainable matches</a:t>
            </a:r>
            <a:endParaRPr lang="en-US" sz="1750" dirty="0"/>
          </a:p>
        </p:txBody>
      </p:sp>
      <p:sp>
        <p:nvSpPr>
          <p:cNvPr id="23" name="Text 18"/>
          <p:cNvSpPr/>
          <p:nvPr/>
        </p:nvSpPr>
        <p:spPr>
          <a:xfrm>
            <a:off x="8403336" y="4251960"/>
            <a:ext cx="25786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8B8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suggestion shows its reasoning — exact mutual-friend count and the specific interests in common — instead of a black-box score.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B8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CIRCLES · GRAPH FRIEND RECOMMENDATION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" y="868680"/>
            <a:ext cx="261518" cy="-118872"/>
          </a:xfrm>
          <a:prstGeom prst="line">
            <a:avLst/>
          </a:prstGeom>
          <a:noFill/>
          <a:ln w="15875">
            <a:solidFill>
              <a:srgbClr val="FF6B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" y="868680"/>
            <a:ext cx="261518" cy="118872"/>
          </a:xfrm>
          <a:prstGeom prst="line">
            <a:avLst/>
          </a:prstGeom>
          <a:noFill/>
          <a:ln w="15875">
            <a:solidFill>
              <a:srgbClr val="FF6B5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5188" y="815188"/>
            <a:ext cx="106985" cy="106985"/>
          </a:xfrm>
          <a:prstGeom prst="ellipse">
            <a:avLst/>
          </a:prstGeom>
          <a:solidFill>
            <a:srgbClr val="FF6B5E"/>
          </a:solidFill>
          <a:ln/>
        </p:spPr>
      </p:sp>
      <p:sp>
        <p:nvSpPr>
          <p:cNvPr id="5" name="Shape 3"/>
          <p:cNvSpPr/>
          <p:nvPr/>
        </p:nvSpPr>
        <p:spPr>
          <a:xfrm>
            <a:off x="1076706" y="696316"/>
            <a:ext cx="106985" cy="106985"/>
          </a:xfrm>
          <a:prstGeom prst="ellipse">
            <a:avLst/>
          </a:prstGeom>
          <a:solidFill>
            <a:srgbClr val="FF6B5E"/>
          </a:solidFill>
          <a:ln/>
        </p:spPr>
      </p:sp>
      <p:sp>
        <p:nvSpPr>
          <p:cNvPr id="6" name="Shape 4"/>
          <p:cNvSpPr/>
          <p:nvPr/>
        </p:nvSpPr>
        <p:spPr>
          <a:xfrm>
            <a:off x="1076706" y="934060"/>
            <a:ext cx="106985" cy="106985"/>
          </a:xfrm>
          <a:prstGeom prst="ellipse">
            <a:avLst/>
          </a:prstGeom>
          <a:solidFill>
            <a:srgbClr val="FF6B5E"/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65836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IT'S BUILT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105156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7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implementations, one shared logic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777240" y="2194560"/>
            <a:ext cx="5120640" cy="39776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143000" y="25603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· CONSOLE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143000" y="285292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27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engine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1143000" y="3776472"/>
            <a:ext cx="91440" cy="91440"/>
          </a:xfrm>
          <a:prstGeom prst="ellipse">
            <a:avLst/>
          </a:prstGeom>
          <a:solidFill>
            <a:srgbClr val="7DDFB0"/>
          </a:solidFill>
          <a:ln/>
        </p:spPr>
      </p:sp>
      <p:sp>
        <p:nvSpPr>
          <p:cNvPr id="13" name="Text 11"/>
          <p:cNvSpPr/>
          <p:nvPr/>
        </p:nvSpPr>
        <p:spPr>
          <a:xfrm>
            <a:off x="1399032" y="3584448"/>
            <a:ext cx="4069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6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HashMap&lt;String, Set&lt;String&gt;&gt; — the adjacency-list graph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1143000" y="4672584"/>
            <a:ext cx="91440" cy="91440"/>
          </a:xfrm>
          <a:prstGeom prst="ellipse">
            <a:avLst/>
          </a:prstGeom>
          <a:solidFill>
            <a:srgbClr val="7DDFB0"/>
          </a:solidFill>
          <a:ln/>
        </p:spPr>
      </p:sp>
      <p:sp>
        <p:nvSpPr>
          <p:cNvPr id="15" name="Text 13"/>
          <p:cNvSpPr/>
          <p:nvPr/>
        </p:nvSpPr>
        <p:spPr>
          <a:xfrm>
            <a:off x="1399032" y="4480560"/>
            <a:ext cx="4069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6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PriorityQueue — max-heap ranking of candidates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1143000" y="5568696"/>
            <a:ext cx="91440" cy="91440"/>
          </a:xfrm>
          <a:prstGeom prst="ellipse">
            <a:avLst/>
          </a:prstGeom>
          <a:solidFill>
            <a:srgbClr val="7DDFB0"/>
          </a:solidFill>
          <a:ln/>
        </p:spPr>
      </p:sp>
      <p:sp>
        <p:nvSpPr>
          <p:cNvPr id="17" name="Text 15"/>
          <p:cNvSpPr/>
          <p:nvPr/>
        </p:nvSpPr>
        <p:spPr>
          <a:xfrm>
            <a:off x="1399032" y="5376672"/>
            <a:ext cx="4069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6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Menu-driven CLI for adding users, friendships, interests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309360" y="2194560"/>
            <a:ext cx="5120640" cy="39776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675120" y="25603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· CSS · JAVASCRIPT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675120" y="285292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27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Interactive web app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6675120" y="3776472"/>
            <a:ext cx="91440" cy="91440"/>
          </a:xfrm>
          <a:prstGeom prst="ellipse">
            <a:avLst/>
          </a:prstGeom>
          <a:solidFill>
            <a:srgbClr val="7DDFB0"/>
          </a:solidFill>
          <a:ln/>
        </p:spPr>
      </p:sp>
      <p:sp>
        <p:nvSpPr>
          <p:cNvPr id="22" name="Text 20"/>
          <p:cNvSpPr/>
          <p:nvPr/>
        </p:nvSpPr>
        <p:spPr>
          <a:xfrm>
            <a:off x="6931152" y="3584448"/>
            <a:ext cx="4069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6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graph + scoring logic, ported to the browser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675120" y="4672584"/>
            <a:ext cx="91440" cy="91440"/>
          </a:xfrm>
          <a:prstGeom prst="ellipse">
            <a:avLst/>
          </a:prstGeom>
          <a:solidFill>
            <a:srgbClr val="7DDFB0"/>
          </a:solidFill>
          <a:ln/>
        </p:spPr>
      </p:sp>
      <p:sp>
        <p:nvSpPr>
          <p:cNvPr id="24" name="Text 22"/>
          <p:cNvSpPr/>
          <p:nvPr/>
        </p:nvSpPr>
        <p:spPr>
          <a:xfrm>
            <a:off x="6931152" y="4480560"/>
            <a:ext cx="4069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6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SVG network view — click anyone to see their matches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675120" y="5568696"/>
            <a:ext cx="91440" cy="91440"/>
          </a:xfrm>
          <a:prstGeom prst="ellipse">
            <a:avLst/>
          </a:prstGeom>
          <a:solidFill>
            <a:srgbClr val="7DDFB0"/>
          </a:solidFill>
          <a:ln/>
        </p:spPr>
      </p:sp>
      <p:sp>
        <p:nvSpPr>
          <p:cNvPr id="26" name="Text 24"/>
          <p:cNvSpPr/>
          <p:nvPr/>
        </p:nvSpPr>
        <p:spPr>
          <a:xfrm>
            <a:off x="6931152" y="5376672"/>
            <a:ext cx="4069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6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form to add a person with friends and interests together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CIRCLES · GRAPH FRIEND RECOMMENDATION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914400"/>
            <a:ext cx="82296" cy="82296"/>
          </a:xfrm>
          <a:prstGeom prst="ellipse">
            <a:avLst/>
          </a:prstGeom>
          <a:solidFill>
            <a:srgbClr val="FF6B5E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1371600"/>
            <a:ext cx="82296" cy="82296"/>
          </a:xfrm>
          <a:prstGeom prst="ellipse">
            <a:avLst/>
          </a:prstGeom>
          <a:solidFill>
            <a:srgbClr val="7DDFB0"/>
          </a:solidFill>
          <a:ln/>
        </p:spPr>
      </p:sp>
      <p:sp>
        <p:nvSpPr>
          <p:cNvPr id="4" name="Shape 2"/>
          <p:cNvSpPr/>
          <p:nvPr/>
        </p:nvSpPr>
        <p:spPr>
          <a:xfrm>
            <a:off x="9052560" y="1554480"/>
            <a:ext cx="82296" cy="82296"/>
          </a:xfrm>
          <a:prstGeom prst="ellipse">
            <a:avLst/>
          </a:prstGeom>
          <a:solidFill>
            <a:srgbClr val="FF6B5E"/>
          </a:solidFill>
          <a:ln/>
        </p:spPr>
      </p:sp>
      <p:sp>
        <p:nvSpPr>
          <p:cNvPr id="5" name="Shape 3"/>
          <p:cNvSpPr/>
          <p:nvPr/>
        </p:nvSpPr>
        <p:spPr>
          <a:xfrm>
            <a:off x="10607040" y="2103120"/>
            <a:ext cx="82296" cy="82296"/>
          </a:xfrm>
          <a:prstGeom prst="ellipse">
            <a:avLst/>
          </a:prstGeom>
          <a:solidFill>
            <a:srgbClr val="7DDFB0"/>
          </a:solidFill>
          <a:ln/>
        </p:spPr>
      </p:sp>
      <p:sp>
        <p:nvSpPr>
          <p:cNvPr id="6" name="Shape 4"/>
          <p:cNvSpPr/>
          <p:nvPr/>
        </p:nvSpPr>
        <p:spPr>
          <a:xfrm>
            <a:off x="9692640" y="2377440"/>
            <a:ext cx="82296" cy="82296"/>
          </a:xfrm>
          <a:prstGeom prst="ellipse">
            <a:avLst/>
          </a:prstGeom>
          <a:solidFill>
            <a:srgbClr val="FF6B5E"/>
          </a:solidFill>
          <a:ln/>
        </p:spPr>
      </p:sp>
      <p:sp>
        <p:nvSpPr>
          <p:cNvPr id="7" name="Shape 5"/>
          <p:cNvSpPr/>
          <p:nvPr/>
        </p:nvSpPr>
        <p:spPr>
          <a:xfrm>
            <a:off x="9459468" y="955548"/>
            <a:ext cx="822960" cy="457200"/>
          </a:xfrm>
          <a:prstGeom prst="line">
            <a:avLst/>
          </a:prstGeom>
          <a:noFill/>
          <a:ln w="9525">
            <a:solidFill>
              <a:srgbClr val="8B86AA">
                <a:alpha val="7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459468" y="955548"/>
            <a:ext cx="-365760" cy="640080"/>
          </a:xfrm>
          <a:prstGeom prst="line">
            <a:avLst/>
          </a:prstGeom>
          <a:noFill/>
          <a:ln w="9525">
            <a:solidFill>
              <a:srgbClr val="8B86AA">
                <a:alpha val="7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282428" y="1412748"/>
            <a:ext cx="365760" cy="731520"/>
          </a:xfrm>
          <a:prstGeom prst="line">
            <a:avLst/>
          </a:prstGeom>
          <a:noFill/>
          <a:ln w="9525">
            <a:solidFill>
              <a:srgbClr val="8B86AA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648188" y="2144268"/>
            <a:ext cx="-914400" cy="274320"/>
          </a:xfrm>
          <a:prstGeom prst="line">
            <a:avLst/>
          </a:prstGeom>
          <a:noFill/>
          <a:ln w="9525">
            <a:solidFill>
              <a:srgbClr val="8B86AA">
                <a:alpha val="7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093708" y="1595628"/>
            <a:ext cx="640080" cy="822960"/>
          </a:xfrm>
          <a:prstGeom prst="line">
            <a:avLst/>
          </a:prstGeom>
          <a:noFill/>
          <a:ln w="9525">
            <a:solidFill>
              <a:srgbClr val="8B86AA">
                <a:alpha val="7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914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77240" y="1280160"/>
            <a:ext cx="10241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F0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Graphs make recommendations feel obvious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822960" y="2331720"/>
            <a:ext cx="8595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50" dirty="0">
                <a:solidFill>
                  <a:srgbClr val="8B8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people and friendships as a graph turns "who should I connect with" into a traversal problem — and adding interests on top means matches make sense even before two people have a single friend in common.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822960" y="3794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7DD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GLANCE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2960" y="420624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DDF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O(F²)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822960" y="482803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8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time to rank one user's matches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114800" y="420624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DDF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signals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4114800" y="482803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8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friends + shared interests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406640" y="420624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DDF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DFS + heap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7406640" y="482803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8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data structures used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B8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CIRCLES · GRAPH FRIEND RECOMMENDATION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Circles — Graph-Based Friend Recommendation System</dc:title>
  <dc:subject>PptxGenJS Presentation</dc:subject>
  <dc:creator>Mini Project</dc:creator>
  <cp:lastModifiedBy>Mini Project</cp:lastModifiedBy>
  <cp:revision>1</cp:revision>
  <dcterms:created xsi:type="dcterms:W3CDTF">2026-06-21T13:20:24Z</dcterms:created>
  <dcterms:modified xsi:type="dcterms:W3CDTF">2026-06-21T13:20:24Z</dcterms:modified>
</cp:coreProperties>
</file>